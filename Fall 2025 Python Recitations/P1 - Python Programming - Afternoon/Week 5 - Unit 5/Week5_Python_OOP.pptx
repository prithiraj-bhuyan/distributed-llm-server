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 Mono"/>
      <p:regular r:id="rId18"/>
      <p:bold r:id="rId19"/>
      <p:italic r:id="rId20"/>
      <p:boldItalic r:id="rId21"/>
    </p:embeddedFont>
    <p:embeddedFont>
      <p:font typeface="Open Sans Light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ADCB40-8BBC-49A5-BE1C-98618F030124}">
  <a:tblStyle styleId="{C8ADCB40-8BBC-49A5-BE1C-98618F03012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22" Type="http://schemas.openxmlformats.org/officeDocument/2006/relationships/font" Target="fonts/OpenSansLight-regular.fntdata"/><Relationship Id="rId21" Type="http://schemas.openxmlformats.org/officeDocument/2006/relationships/font" Target="fonts/RobotoMono-boldItalic.fntdata"/><Relationship Id="rId24" Type="http://schemas.openxmlformats.org/officeDocument/2006/relationships/font" Target="fonts/OpenSansLight-italic.fntdata"/><Relationship Id="rId23" Type="http://schemas.openxmlformats.org/officeDocument/2006/relationships/font" Target="fonts/OpenSans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regular.fntdata"/><Relationship Id="rId25" Type="http://schemas.openxmlformats.org/officeDocument/2006/relationships/font" Target="fonts/OpenSansLight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Mono-bold.fntdata"/><Relationship Id="rId18" Type="http://schemas.openxmlformats.org/officeDocument/2006/relationships/font" Target="fonts/RobotoMon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>
        <p15:guide id="1" orient="horz" pos="2880">
          <p15:clr>
            <a:srgbClr val="F26B43"/>
          </p15:clr>
        </p15:guide>
        <p15:guide id="2" pos="2160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749fcb90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749fcb9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206ff77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206ff77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206ff777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206ff777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206ff777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206ff777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749fcb90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749fcb90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749fcb90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749fcb90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206ff777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206ff777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206ff777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206ff777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206ff777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206ff777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206ff777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206ff777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206ff777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206ff777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9" name="Google Shape;9;p2"/>
          <p:cNvPicPr preferRelativeResize="0"/>
          <p:nvPr/>
        </p:nvPicPr>
        <p:blipFill rotWithShape="1">
          <a:blip r:embed="rId2">
            <a:alphaModFix/>
          </a:blip>
          <a:srcRect b="0" l="1022" r="65262" t="0"/>
          <a:stretch/>
        </p:blipFill>
        <p:spPr>
          <a:xfrm>
            <a:off x="0" y="0"/>
            <a:ext cx="3082973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10;p2"/>
          <p:cNvCxnSpPr/>
          <p:nvPr/>
        </p:nvCxnSpPr>
        <p:spPr>
          <a:xfrm>
            <a:off x="3566900" y="2129900"/>
            <a:ext cx="51279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734" y="1238117"/>
            <a:ext cx="1558578" cy="989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4">
            <a:alphaModFix/>
          </a:blip>
          <a:srcRect b="0" l="72402" r="0" t="0"/>
          <a:stretch/>
        </p:blipFill>
        <p:spPr>
          <a:xfrm>
            <a:off x="6325925" y="4627850"/>
            <a:ext cx="2818076" cy="5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0" y="4953600"/>
            <a:ext cx="6325800" cy="1899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3566900" y="1238125"/>
            <a:ext cx="51198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555550" y="2302475"/>
            <a:ext cx="5119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1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3566900" y="2663675"/>
            <a:ext cx="511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pic>
        <p:nvPicPr>
          <p:cNvPr id="17" name="Google Shape;17;p2" title="semi_transparent_bg_teel_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1875" y="4225836"/>
            <a:ext cx="2818074" cy="73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80">
          <p15:clr>
            <a:srgbClr val="E46962"/>
          </p15:clr>
        </p15:guide>
        <p15:guide id="2" orient="horz" pos="1564">
          <p15:clr>
            <a:srgbClr val="E46962"/>
          </p15:clr>
        </p15:guide>
        <p15:guide id="3" orient="horz" pos="1787">
          <p15:clr>
            <a:srgbClr val="E46962"/>
          </p15:clr>
        </p15:guide>
        <p15:guide id="4" orient="horz" pos="1342">
          <p15:clr>
            <a:srgbClr val="E46962"/>
          </p15:clr>
        </p15:guide>
        <p15:guide id="5" orient="horz" pos="2736">
          <p15:clr>
            <a:srgbClr val="E46962"/>
          </p15:clr>
        </p15:guide>
        <p15:guide id="6" pos="2736">
          <p15:clr>
            <a:srgbClr val="E46962"/>
          </p15:clr>
        </p15:guide>
        <p15:guide id="7" pos="5472">
          <p15:clr>
            <a:srgbClr val="E46962"/>
          </p15:clr>
        </p15:guide>
        <p15:guide id="8" pos="1229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Agenda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645183" y="377190"/>
            <a:ext cx="7853700" cy="43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457189" y="914395"/>
            <a:ext cx="82299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" name="Google Shape;21;p3"/>
          <p:cNvSpPr txBox="1"/>
          <p:nvPr>
            <p:ph type="title"/>
          </p:nvPr>
        </p:nvSpPr>
        <p:spPr>
          <a:xfrm>
            <a:off x="457200" y="343425"/>
            <a:ext cx="8229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457200" y="1155150"/>
            <a:ext cx="8229600" cy="3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  <a:defRPr>
                <a:solidFill>
                  <a:srgbClr val="000000"/>
                </a:solidFill>
              </a:defRPr>
            </a:lvl2pPr>
            <a:lvl3pPr indent="-3238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  <a:defRPr>
                <a:solidFill>
                  <a:srgbClr val="000000"/>
                </a:solidFill>
              </a:defRPr>
            </a:lvl3pPr>
            <a:lvl4pPr indent="-3238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  <a:defRPr>
                <a:solidFill>
                  <a:srgbClr val="000000"/>
                </a:solidFill>
              </a:defRPr>
            </a:lvl4pPr>
            <a:lvl5pPr indent="-3238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  <a:defRPr>
                <a:solidFill>
                  <a:srgbClr val="000000"/>
                </a:solidFill>
              </a:defRPr>
            </a:lvl5pPr>
            <a:lvl6pPr indent="-3238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  <a:defRPr>
                <a:solidFill>
                  <a:srgbClr val="000000"/>
                </a:solidFill>
              </a:defRPr>
            </a:lvl6pPr>
            <a:lvl7pPr indent="-3238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  <a:defRPr>
                <a:solidFill>
                  <a:srgbClr val="000000"/>
                </a:solidFill>
              </a:defRPr>
            </a:lvl7pPr>
            <a:lvl8pPr indent="-3238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  <a:defRPr>
                <a:solidFill>
                  <a:srgbClr val="000000"/>
                </a:solidFill>
              </a:defRPr>
            </a:lvl8pPr>
            <a:lvl9pPr indent="-3238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 b="0" l="72402" r="0" t="0"/>
          <a:stretch/>
        </p:blipFill>
        <p:spPr>
          <a:xfrm>
            <a:off x="6325925" y="4627850"/>
            <a:ext cx="2818076" cy="5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0" y="4953600"/>
            <a:ext cx="6325800" cy="1899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576">
          <p15:clr>
            <a:srgbClr val="E46962"/>
          </p15:clr>
        </p15:guide>
        <p15:guide id="4" orient="horz" pos="432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1">
  <p:cSld name="Agenda Slide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645183" y="377190"/>
            <a:ext cx="7853700" cy="43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4"/>
          <p:cNvCxnSpPr/>
          <p:nvPr/>
        </p:nvCxnSpPr>
        <p:spPr>
          <a:xfrm>
            <a:off x="457189" y="914395"/>
            <a:ext cx="82299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343425"/>
            <a:ext cx="77799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155150"/>
            <a:ext cx="8229600" cy="3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  <a:defRPr>
                <a:solidFill>
                  <a:srgbClr val="000000"/>
                </a:solidFill>
              </a:defRPr>
            </a:lvl2pPr>
            <a:lvl3pPr indent="-3238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  <a:defRPr>
                <a:solidFill>
                  <a:srgbClr val="000000"/>
                </a:solidFill>
              </a:defRPr>
            </a:lvl3pPr>
            <a:lvl4pPr indent="-3238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  <a:defRPr>
                <a:solidFill>
                  <a:srgbClr val="000000"/>
                </a:solidFill>
              </a:defRPr>
            </a:lvl4pPr>
            <a:lvl5pPr indent="-3238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  <a:defRPr>
                <a:solidFill>
                  <a:srgbClr val="000000"/>
                </a:solidFill>
              </a:defRPr>
            </a:lvl5pPr>
            <a:lvl6pPr indent="-3238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  <a:defRPr>
                <a:solidFill>
                  <a:srgbClr val="000000"/>
                </a:solidFill>
              </a:defRPr>
            </a:lvl6pPr>
            <a:lvl7pPr indent="-3238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  <a:defRPr>
                <a:solidFill>
                  <a:srgbClr val="000000"/>
                </a:solidFill>
              </a:defRPr>
            </a:lvl7pPr>
            <a:lvl8pPr indent="-3238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  <a:defRPr>
                <a:solidFill>
                  <a:srgbClr val="000000"/>
                </a:solidFill>
              </a:defRPr>
            </a:lvl8pPr>
            <a:lvl9pPr indent="-3238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2">
            <a:alphaModFix/>
          </a:blip>
          <a:srcRect b="0" l="72402" r="0" t="0"/>
          <a:stretch/>
        </p:blipFill>
        <p:spPr>
          <a:xfrm>
            <a:off x="6325925" y="4627850"/>
            <a:ext cx="2818076" cy="5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0" y="4953600"/>
            <a:ext cx="6325800" cy="1899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" name="Google Shape;3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7050" y="356600"/>
            <a:ext cx="449750" cy="449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4"/>
          <p:cNvGrpSpPr/>
          <p:nvPr/>
        </p:nvGrpSpPr>
        <p:grpSpPr>
          <a:xfrm>
            <a:off x="0" y="4953600"/>
            <a:ext cx="839700" cy="189900"/>
            <a:chOff x="0" y="4953600"/>
            <a:chExt cx="839700" cy="189900"/>
          </a:xfrm>
        </p:grpSpPr>
        <p:sp>
          <p:nvSpPr>
            <p:cNvPr id="36" name="Google Shape;36;p4"/>
            <p:cNvSpPr/>
            <p:nvPr/>
          </p:nvSpPr>
          <p:spPr>
            <a:xfrm>
              <a:off x="0" y="4953600"/>
              <a:ext cx="839700" cy="189900"/>
            </a:xfrm>
            <a:prstGeom prst="rect">
              <a:avLst/>
            </a:prstGeom>
            <a:gradFill>
              <a:gsLst>
                <a:gs pos="0">
                  <a:srgbClr val="FFFFFF">
                    <a:alpha val="75000"/>
                  </a:srgbClr>
                </a:gs>
                <a:gs pos="100000">
                  <a:srgbClr val="FFFFFF">
                    <a:alpha val="0"/>
                    <a:alpha val="75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pic>
          <p:nvPicPr>
            <p:cNvPr id="37" name="Google Shape;3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2113" y="4973663"/>
              <a:ext cx="414175" cy="149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576">
          <p15:clr>
            <a:srgbClr val="E46962"/>
          </p15:clr>
        </p15:guide>
        <p15:guide id="4" orient="horz" pos="4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 Point">
  <p:cSld name="Important 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/>
          <p:nvPr/>
        </p:nvSpPr>
        <p:spPr>
          <a:xfrm>
            <a:off x="352697" y="344533"/>
            <a:ext cx="8438606" cy="445443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 txBox="1"/>
          <p:nvPr>
            <p:ph type="title"/>
          </p:nvPr>
        </p:nvSpPr>
        <p:spPr>
          <a:xfrm>
            <a:off x="1755300" y="2308050"/>
            <a:ext cx="5633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b="0" i="0" sz="33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 Point 1">
  <p:cSld name="Important Point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43" name="Google Shape;4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/>
          <p:nvPr/>
        </p:nvSpPr>
        <p:spPr>
          <a:xfrm>
            <a:off x="352697" y="344533"/>
            <a:ext cx="8438700" cy="445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1755300" y="2308050"/>
            <a:ext cx="5633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b="0" i="0" sz="33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pic>
        <p:nvPicPr>
          <p:cNvPr id="46" name="Google Shape;4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525" y="2346875"/>
            <a:ext cx="449750" cy="4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Slide Photo">
  <p:cSld name="Just Background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 rotWithShape="1">
          <a:blip r:embed="rId2">
            <a:alphaModFix/>
          </a:blip>
          <a:srcRect b="0" l="72402" r="0" t="0"/>
          <a:stretch/>
        </p:blipFill>
        <p:spPr>
          <a:xfrm>
            <a:off x="6325925" y="4627850"/>
            <a:ext cx="2818076" cy="5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0" y="4953600"/>
            <a:ext cx="6325800" cy="1899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736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Slide Photo 1">
  <p:cSld name="Just Background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8"/>
          <p:cNvPicPr preferRelativeResize="0"/>
          <p:nvPr/>
        </p:nvPicPr>
        <p:blipFill rotWithShape="1">
          <a:blip r:embed="rId2">
            <a:alphaModFix/>
          </a:blip>
          <a:srcRect b="0" l="72402" r="0" t="0"/>
          <a:stretch/>
        </p:blipFill>
        <p:spPr>
          <a:xfrm>
            <a:off x="6325925" y="4627850"/>
            <a:ext cx="2818076" cy="5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/>
          <p:nvPr/>
        </p:nvSpPr>
        <p:spPr>
          <a:xfrm>
            <a:off x="0" y="4953600"/>
            <a:ext cx="6325800" cy="1899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5" name="Google Shape;55;p8"/>
          <p:cNvGrpSpPr/>
          <p:nvPr/>
        </p:nvGrpSpPr>
        <p:grpSpPr>
          <a:xfrm>
            <a:off x="0" y="4953600"/>
            <a:ext cx="839700" cy="189900"/>
            <a:chOff x="0" y="4953600"/>
            <a:chExt cx="839700" cy="189900"/>
          </a:xfrm>
        </p:grpSpPr>
        <p:sp>
          <p:nvSpPr>
            <p:cNvPr id="56" name="Google Shape;56;p8"/>
            <p:cNvSpPr/>
            <p:nvPr/>
          </p:nvSpPr>
          <p:spPr>
            <a:xfrm>
              <a:off x="0" y="4953600"/>
              <a:ext cx="839700" cy="189900"/>
            </a:xfrm>
            <a:prstGeom prst="rect">
              <a:avLst/>
            </a:prstGeom>
            <a:gradFill>
              <a:gsLst>
                <a:gs pos="0">
                  <a:srgbClr val="FFFFFF">
                    <a:alpha val="75000"/>
                  </a:srgbClr>
                </a:gs>
                <a:gs pos="100000">
                  <a:srgbClr val="FFFFFF">
                    <a:alpha val="0"/>
                    <a:alpha val="75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pic>
          <p:nvPicPr>
            <p:cNvPr id="57" name="Google Shape;57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2113" y="4973663"/>
              <a:ext cx="414175" cy="149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2736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and Right Side Image">
  <p:cSld name="Column and Image Left"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Google Shape;59;p9"/>
          <p:cNvCxnSpPr/>
          <p:nvPr/>
        </p:nvCxnSpPr>
        <p:spPr>
          <a:xfrm>
            <a:off x="607654" y="1911204"/>
            <a:ext cx="24717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" name="Google Shape;60;p9"/>
          <p:cNvSpPr/>
          <p:nvPr>
            <p:ph idx="2" type="pic"/>
          </p:nvPr>
        </p:nvSpPr>
        <p:spPr>
          <a:xfrm>
            <a:off x="3663550" y="648900"/>
            <a:ext cx="5233200" cy="33534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9"/>
          <p:cNvSpPr txBox="1"/>
          <p:nvPr>
            <p:ph type="title"/>
          </p:nvPr>
        </p:nvSpPr>
        <p:spPr>
          <a:xfrm>
            <a:off x="607600" y="648900"/>
            <a:ext cx="24720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609875" y="2018025"/>
            <a:ext cx="2472000" cy="18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pic>
        <p:nvPicPr>
          <p:cNvPr id="63" name="Google Shape;63;p9"/>
          <p:cNvPicPr preferRelativeResize="0"/>
          <p:nvPr/>
        </p:nvPicPr>
        <p:blipFill rotWithShape="1">
          <a:blip r:embed="rId2">
            <a:alphaModFix/>
          </a:blip>
          <a:srcRect b="0" l="72402" r="0" t="0"/>
          <a:stretch/>
        </p:blipFill>
        <p:spPr>
          <a:xfrm>
            <a:off x="6325925" y="4627850"/>
            <a:ext cx="2818076" cy="5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/>
          <p:nvPr/>
        </p:nvSpPr>
        <p:spPr>
          <a:xfrm>
            <a:off x="0" y="4953600"/>
            <a:ext cx="6325800" cy="1899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9"/>
          <p:cNvGrpSpPr/>
          <p:nvPr/>
        </p:nvGrpSpPr>
        <p:grpSpPr>
          <a:xfrm>
            <a:off x="0" y="4953600"/>
            <a:ext cx="839700" cy="189900"/>
            <a:chOff x="0" y="4953600"/>
            <a:chExt cx="839700" cy="189900"/>
          </a:xfrm>
        </p:grpSpPr>
        <p:sp>
          <p:nvSpPr>
            <p:cNvPr id="66" name="Google Shape;66;p9"/>
            <p:cNvSpPr/>
            <p:nvPr/>
          </p:nvSpPr>
          <p:spPr>
            <a:xfrm>
              <a:off x="0" y="4953600"/>
              <a:ext cx="839700" cy="189900"/>
            </a:xfrm>
            <a:prstGeom prst="rect">
              <a:avLst/>
            </a:prstGeom>
            <a:gradFill>
              <a:gsLst>
                <a:gs pos="0">
                  <a:srgbClr val="FFFFFF">
                    <a:alpha val="75000"/>
                  </a:srgbClr>
                </a:gs>
                <a:gs pos="100000">
                  <a:srgbClr val="FFFFFF">
                    <a:alpha val="0"/>
                    <a:alpha val="75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pic>
          <p:nvPicPr>
            <p:cNvPr id="67" name="Google Shape;67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2113" y="4973663"/>
              <a:ext cx="414175" cy="149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and Left Side Image ">
  <p:cSld name="Column and Image Righ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0"/>
          <p:cNvCxnSpPr/>
          <p:nvPr/>
        </p:nvCxnSpPr>
        <p:spPr>
          <a:xfrm>
            <a:off x="6325800" y="1678075"/>
            <a:ext cx="23571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" name="Google Shape;70;p10"/>
          <p:cNvSpPr/>
          <p:nvPr>
            <p:ph idx="2" type="pic"/>
          </p:nvPr>
        </p:nvSpPr>
        <p:spPr>
          <a:xfrm>
            <a:off x="457200" y="648900"/>
            <a:ext cx="5233200" cy="3353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6325925" y="648900"/>
            <a:ext cx="23631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" type="subTitle"/>
          </p:nvPr>
        </p:nvSpPr>
        <p:spPr>
          <a:xfrm>
            <a:off x="6325800" y="1834175"/>
            <a:ext cx="2357100" cy="21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pic>
        <p:nvPicPr>
          <p:cNvPr id="73" name="Google Shape;73;p10"/>
          <p:cNvPicPr preferRelativeResize="0"/>
          <p:nvPr/>
        </p:nvPicPr>
        <p:blipFill rotWithShape="1">
          <a:blip r:embed="rId2">
            <a:alphaModFix/>
          </a:blip>
          <a:srcRect b="0" l="72402" r="0" t="0"/>
          <a:stretch/>
        </p:blipFill>
        <p:spPr>
          <a:xfrm>
            <a:off x="6325925" y="4627850"/>
            <a:ext cx="2818076" cy="5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/>
          <p:nvPr/>
        </p:nvSpPr>
        <p:spPr>
          <a:xfrm>
            <a:off x="0" y="4953600"/>
            <a:ext cx="6325800" cy="1899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" name="Google Shape;75;p10"/>
          <p:cNvGrpSpPr/>
          <p:nvPr/>
        </p:nvGrpSpPr>
        <p:grpSpPr>
          <a:xfrm>
            <a:off x="0" y="4953600"/>
            <a:ext cx="839700" cy="189900"/>
            <a:chOff x="0" y="4953600"/>
            <a:chExt cx="839700" cy="189900"/>
          </a:xfrm>
        </p:grpSpPr>
        <p:sp>
          <p:nvSpPr>
            <p:cNvPr id="76" name="Google Shape;76;p10"/>
            <p:cNvSpPr/>
            <p:nvPr/>
          </p:nvSpPr>
          <p:spPr>
            <a:xfrm>
              <a:off x="0" y="4953600"/>
              <a:ext cx="839700" cy="189900"/>
            </a:xfrm>
            <a:prstGeom prst="rect">
              <a:avLst/>
            </a:prstGeom>
            <a:gradFill>
              <a:gsLst>
                <a:gs pos="0">
                  <a:srgbClr val="FFFFFF">
                    <a:alpha val="75000"/>
                  </a:srgbClr>
                </a:gs>
                <a:gs pos="100000">
                  <a:srgbClr val="FFFFFF">
                    <a:alpha val="0"/>
                    <a:alpha val="75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pic>
          <p:nvPicPr>
            <p:cNvPr id="77" name="Google Shape;7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2113" y="4973663"/>
              <a:ext cx="414175" cy="149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pos="3985">
          <p15:clr>
            <a:srgbClr val="E46962"/>
          </p15:clr>
        </p15:guide>
        <p15:guide id="2" pos="5472">
          <p15:clr>
            <a:srgbClr val="E46962"/>
          </p15:clr>
        </p15:guide>
        <p15:guide id="3" pos="288">
          <p15:clr>
            <a:srgbClr val="E46962"/>
          </p15:clr>
        </p15:guide>
        <p15:guide id="4" orient="horz" pos="409">
          <p15:clr>
            <a:srgbClr val="E46962"/>
          </p15:clr>
        </p15:guide>
        <p15:guide id="5" orient="horz" pos="2521">
          <p15:clr>
            <a:srgbClr val="E46962"/>
          </p15:clr>
        </p15:guide>
        <p15:guide id="6" orient="horz" pos="2736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 CMU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79" name="Google Shape;7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8589" y="4781812"/>
            <a:ext cx="2158022" cy="18971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1"/>
          <p:cNvSpPr txBox="1"/>
          <p:nvPr>
            <p:ph type="title"/>
          </p:nvPr>
        </p:nvSpPr>
        <p:spPr>
          <a:xfrm>
            <a:off x="1755300" y="2308050"/>
            <a:ext cx="5633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i="0" sz="33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1">
  <p:cSld name="Section Title CMU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83" name="Google Shape;8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8589" y="4781812"/>
            <a:ext cx="2158020" cy="18971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title"/>
          </p:nvPr>
        </p:nvSpPr>
        <p:spPr>
          <a:xfrm>
            <a:off x="1755300" y="2308050"/>
            <a:ext cx="5633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i="0" sz="33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pic>
        <p:nvPicPr>
          <p:cNvPr id="86" name="Google Shape;8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6850" y="218275"/>
            <a:ext cx="449750" cy="4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CUSTOM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Open Sans Light"/>
              <a:buNone/>
              <a:defRPr b="0" i="0" sz="2700" u="none" cap="none" strike="noStrike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26619"/>
            <a:ext cx="78867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pen Sans Light"/>
              <a:buChar char="●"/>
              <a:defRPr b="0" i="0" sz="1500" u="none" cap="none" strike="noStrike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○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■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●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○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■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●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○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■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tinyurl.com/3zjydmu4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tinyurl.com/3swufn9h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566900" y="1238125"/>
            <a:ext cx="5119800" cy="801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 Oriented Programming</a:t>
            </a:r>
            <a:endParaRPr/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3555550" y="2302475"/>
            <a:ext cx="51198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Technicians: Python Programming</a:t>
            </a:r>
            <a:endParaRPr/>
          </a:p>
        </p:txBody>
      </p:sp>
      <p:sp>
        <p:nvSpPr>
          <p:cNvPr id="94" name="Google Shape;94;p14"/>
          <p:cNvSpPr txBox="1"/>
          <p:nvPr>
            <p:ph idx="2" type="subTitle"/>
          </p:nvPr>
        </p:nvSpPr>
        <p:spPr>
          <a:xfrm>
            <a:off x="3566900" y="2663675"/>
            <a:ext cx="5119800" cy="57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Recitation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00" name="Google Shape;100;p15"/>
          <p:cNvGraphicFramePr/>
          <p:nvPr/>
        </p:nvGraphicFramePr>
        <p:xfrm>
          <a:off x="3715863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{C8ADCB40-8BBC-49A5-BE1C-98618F030124}</a:tableStyleId>
              </a:tblPr>
              <a:tblGrid>
                <a:gridCol w="872750"/>
                <a:gridCol w="961300"/>
                <a:gridCol w="3136875"/>
              </a:tblGrid>
              <a:tr h="200025">
                <a:tc>
                  <a:txBody>
                    <a:bodyPr/>
                    <a:lstStyle/>
                    <a:p>
                      <a:pPr indent="0" lvl="0" marL="5715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Week of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Course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71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Unit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Aug 25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Python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Types, variables, functions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Sep 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Python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Iteration, Conditionals, Strings, Basic I/O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Sep 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Python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Lists, Sets, Tuples, and Dictionaries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Sep 15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Python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Local Environment Submissions + I/O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Sep 22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Python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Object Oriented Programming (OOP)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Sep 29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Python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Software Development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Oct 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Python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 Manipulation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Oct 13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Python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Python Review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Oct 20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Python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Web Scraping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Oct 27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Python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 Analysis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Nov 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 Eng.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 Engineer - ETL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Nov 10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 Eng.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Relational DBs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Nov 17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 Eng.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Multi-Model DBs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Nov 24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no class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Thanksgiving week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Dec 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 Eng.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Large-Scale Data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Dec 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AI Prac.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 Structures for AI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Dec 15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AI Prac.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Recommender Systems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571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71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</a:tbl>
          </a:graphicData>
        </a:graphic>
      </p:graphicFrame>
      <p:sp>
        <p:nvSpPr>
          <p:cNvPr id="101" name="Google Shape;101;p15"/>
          <p:cNvSpPr/>
          <p:nvPr/>
        </p:nvSpPr>
        <p:spPr>
          <a:xfrm>
            <a:off x="3145453" y="1399425"/>
            <a:ext cx="440100" cy="39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 cap="flat" cmpd="sng" w="19050">
            <a:solidFill>
              <a:srgbClr val="090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57200" y="821450"/>
            <a:ext cx="2344500" cy="31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2025 FALL</a:t>
            </a:r>
            <a:endParaRPr b="1" sz="2100">
              <a:solidFill>
                <a:srgbClr val="40404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40404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Python Programming</a:t>
            </a:r>
            <a:endParaRPr b="1" sz="2100">
              <a:solidFill>
                <a:srgbClr val="40404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40404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Data </a:t>
            </a:r>
            <a:br>
              <a:rPr lang="en-US" sz="21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1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Engineer</a:t>
            </a:r>
            <a:endParaRPr sz="2100">
              <a:solidFill>
                <a:srgbClr val="40404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40404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AI Practitioner</a:t>
            </a:r>
            <a:endParaRPr sz="2100">
              <a:solidFill>
                <a:srgbClr val="40404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1755300" y="2308050"/>
            <a:ext cx="5633400" cy="527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/ Pre-Recitation Questions?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457200" y="343425"/>
            <a:ext cx="8229600" cy="476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Principles of Object Oriented Programming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457200" y="1155150"/>
            <a:ext cx="8229600" cy="3188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Object-Oriented Programming (OOP) is built on four fundamental concepts that make code more organized, reusable, and manageable.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Encapsulation</a:t>
            </a:r>
            <a:r>
              <a:rPr lang="en-US"/>
              <a:t>: Bundling data and methods into a single unit (a class) to protect data from outside interference.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Abstraction</a:t>
            </a:r>
            <a:r>
              <a:rPr lang="en-US"/>
              <a:t>: Hiding complex implementation details and showing only the essential features to the user.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Inheritance</a:t>
            </a:r>
            <a:r>
              <a:rPr lang="en-US"/>
              <a:t>: Allowing a new class to inherit attributes and methods from an existing class to promote code reuse.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Polymorphism</a:t>
            </a:r>
            <a:r>
              <a:rPr lang="en-US"/>
              <a:t>: Enabling objects of different classes to respond to the same method call in their own specific way.</a:t>
            </a:r>
            <a:endParaRPr/>
          </a:p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457200" y="343425"/>
            <a:ext cx="8229600" cy="476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Rational Class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457200" y="1155150"/>
            <a:ext cx="6379800" cy="3188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class?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class is a blueprint for creating objects. Think of it as a recipe for a cookie: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US"/>
              <a:t>The Recipe: The Rational class (the blueprint).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US"/>
              <a:t>The Cookie: An object, like Rational(1, 2) (an instance).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Attributes: The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Objects store their data in attributes. For our Rational class, the attributes are: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US"/>
              <a:t>numerator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US"/>
              <a:t>denominator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two pieces of data define our fraction.</a:t>
            </a:r>
            <a:endParaRPr/>
          </a:p>
        </p:txBody>
      </p:sp>
      <p:sp>
        <p:nvSpPr>
          <p:cNvPr id="121" name="Google Shape;121;p18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7048230" y="2353320"/>
            <a:ext cx="1550100" cy="610800"/>
          </a:xfrm>
          <a:prstGeom prst="mathMinus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7305137" y="1460474"/>
            <a:ext cx="10128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7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7316880" y="2618727"/>
            <a:ext cx="10128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7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1755300" y="722725"/>
            <a:ext cx="5633400" cy="527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1</a:t>
            </a:r>
            <a:endParaRPr/>
          </a:p>
        </p:txBody>
      </p:sp>
      <p:sp>
        <p:nvSpPr>
          <p:cNvPr id="130" name="Google Shape;130;p19"/>
          <p:cNvSpPr txBox="1"/>
          <p:nvPr>
            <p:ph idx="4294967295" type="body"/>
          </p:nvPr>
        </p:nvSpPr>
        <p:spPr>
          <a:xfrm>
            <a:off x="1098900" y="1250125"/>
            <a:ext cx="6946200" cy="2325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Create a class called ‘</a:t>
            </a: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Rational</a:t>
            </a:r>
            <a:r>
              <a:rPr lang="en-US"/>
              <a:t>’ in a new file </a:t>
            </a:r>
            <a:r>
              <a:rPr b="1" i="1" lang="en-US">
                <a:latin typeface="Open Sans"/>
                <a:ea typeface="Open Sans"/>
                <a:cs typeface="Open Sans"/>
                <a:sym typeface="Open Sans"/>
              </a:rPr>
              <a:t>rational.py</a:t>
            </a:r>
            <a:r>
              <a:rPr lang="en-US"/>
              <a:t> with a constructor for two attributes: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US"/>
              <a:t>numerator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US"/>
              <a:t>denominator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Implement __repr__ and __str__ for Rational with the following format: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US"/>
              <a:t>__repr__: “Rational({numerator}, {denominator})”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US"/>
              <a:t>__str__: “{numerator}/{denominator}”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Import your new class in a new file </a:t>
            </a:r>
            <a:r>
              <a:rPr b="1" i="1" lang="en-US">
                <a:latin typeface="Open Sans"/>
                <a:ea typeface="Open Sans"/>
                <a:cs typeface="Open Sans"/>
                <a:sym typeface="Open Sans"/>
              </a:rPr>
              <a:t>demo.py</a:t>
            </a:r>
            <a:r>
              <a:rPr lang="en-US"/>
              <a:t> and run code to test out your new class</a:t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657938" y="3915223"/>
            <a:ext cx="2690700" cy="5871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py </a:t>
            </a:r>
            <a:r>
              <a:rPr lang="en-US" sz="1300">
                <a:solidFill>
                  <a:srgbClr val="C5221F"/>
                </a:solidFill>
                <a:latin typeface="Roboto Mono"/>
                <a:ea typeface="Roboto Mono"/>
                <a:cs typeface="Roboto Mono"/>
                <a:sym typeface="Roboto Mono"/>
              </a:rPr>
              <a:t>-3</a:t>
            </a:r>
            <a:r>
              <a:rPr lang="en-US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1300">
                <a:solidFill>
                  <a:srgbClr val="C5221F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U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-m</a:t>
            </a:r>
            <a:r>
              <a:rPr lang="en-U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venv</a:t>
            </a:r>
            <a:r>
              <a:rPr lang="en-U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oop-env</a:t>
            </a:r>
            <a:r>
              <a:rPr lang="en-US" sz="1300"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endParaRPr sz="1800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3581850" y="3967275"/>
            <a:ext cx="483000" cy="4830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4298063" y="3915225"/>
            <a:ext cx="4188000" cy="5871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Windows:</a:t>
            </a:r>
            <a:r>
              <a:rPr lang="en-US" sz="1300">
                <a:latin typeface="Roboto Mono"/>
                <a:ea typeface="Roboto Mono"/>
                <a:cs typeface="Roboto Mono"/>
                <a:sym typeface="Roboto Mono"/>
              </a:rPr>
              <a:t> .\oop-env\Scripts\activate  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Mac/Linux</a:t>
            </a:r>
            <a:r>
              <a:rPr lang="en-US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1300">
                <a:latin typeface="Roboto Mono"/>
                <a:ea typeface="Roboto Mono"/>
                <a:cs typeface="Roboto Mono"/>
                <a:sym typeface="Roboto Mono"/>
              </a:rPr>
              <a:t>source oop-env/bin/activate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idx="4294967295" type="body"/>
          </p:nvPr>
        </p:nvSpPr>
        <p:spPr>
          <a:xfrm>
            <a:off x="1098900" y="1391043"/>
            <a:ext cx="6946200" cy="2325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Add these methods to your </a:t>
            </a: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Rational </a:t>
            </a:r>
            <a:r>
              <a:rPr lang="en-US"/>
              <a:t>class: </a:t>
            </a:r>
            <a:r>
              <a:rPr b="1" lang="en-US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tinyurl.com/3zjydmu4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Automatically convert 3/6 in your constructor to 1/2 : Add reduce() to your constructor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Prevent division by 0. In the case that the denominator is being set to 0, raise a </a:t>
            </a:r>
            <a:r>
              <a:rPr b="1" i="1" lang="en-US">
                <a:latin typeface="Open Sans"/>
                <a:ea typeface="Open Sans"/>
                <a:cs typeface="Open Sans"/>
                <a:sym typeface="Open Sans"/>
              </a:rPr>
              <a:t>ZeroDivisionError("Denominator cannot be zero.")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Test your changes in </a:t>
            </a:r>
            <a:r>
              <a:rPr b="1" i="1" lang="en-US">
                <a:latin typeface="Open Sans"/>
                <a:ea typeface="Open Sans"/>
                <a:cs typeface="Open Sans"/>
                <a:sym typeface="Open Sans"/>
              </a:rPr>
              <a:t>demo.py</a:t>
            </a:r>
            <a:endParaRPr i="1"/>
          </a:p>
        </p:txBody>
      </p:sp>
      <p:sp>
        <p:nvSpPr>
          <p:cNvPr id="139" name="Google Shape;139;p20"/>
          <p:cNvSpPr txBox="1"/>
          <p:nvPr>
            <p:ph type="title"/>
          </p:nvPr>
        </p:nvSpPr>
        <p:spPr>
          <a:xfrm>
            <a:off x="1755300" y="722725"/>
            <a:ext cx="5633400" cy="527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idx="4294967295" type="body"/>
          </p:nvPr>
        </p:nvSpPr>
        <p:spPr>
          <a:xfrm>
            <a:off x="1098900" y="1391043"/>
            <a:ext cx="6946200" cy="2325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Discuss: Why do we make attributes private? What are the norms for making private variables?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Change your </a:t>
            </a:r>
            <a:r>
              <a:rPr i="1" lang="en-US"/>
              <a:t>numerator </a:t>
            </a:r>
            <a:r>
              <a:rPr lang="en-US"/>
              <a:t>and </a:t>
            </a:r>
            <a:r>
              <a:rPr i="1" lang="en-US"/>
              <a:t>denominator </a:t>
            </a:r>
            <a:r>
              <a:rPr lang="en-US"/>
              <a:t>attributes to private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Create a getter and setter for both attributes</a:t>
            </a:r>
            <a:endParaRPr/>
          </a:p>
        </p:txBody>
      </p:sp>
      <p:sp>
        <p:nvSpPr>
          <p:cNvPr id="145" name="Google Shape;145;p21"/>
          <p:cNvSpPr txBox="1"/>
          <p:nvPr>
            <p:ph type="title"/>
          </p:nvPr>
        </p:nvSpPr>
        <p:spPr>
          <a:xfrm>
            <a:off x="1755300" y="722725"/>
            <a:ext cx="5633400" cy="527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idx="4294967295" type="body"/>
          </p:nvPr>
        </p:nvSpPr>
        <p:spPr>
          <a:xfrm>
            <a:off x="1098900" y="1179682"/>
            <a:ext cx="6946200" cy="3275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want to be able to add, subtract, multiply and divide our rational numbers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What happens when you try to add two rational numbers together?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Implement addition using the </a:t>
            </a: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__add__(self, other)</a:t>
            </a:r>
            <a:r>
              <a:rPr lang="en-US"/>
              <a:t> method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Test addition in demo.py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 txBox="1"/>
          <p:nvPr>
            <p:ph type="title"/>
          </p:nvPr>
        </p:nvSpPr>
        <p:spPr>
          <a:xfrm>
            <a:off x="1755300" y="722725"/>
            <a:ext cx="5633400" cy="527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4</a:t>
            </a: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288" y="2571750"/>
            <a:ext cx="5287425" cy="152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idx="4294967295" type="body"/>
          </p:nvPr>
        </p:nvSpPr>
        <p:spPr>
          <a:xfrm>
            <a:off x="1098900" y="1391043"/>
            <a:ext cx="6946200" cy="2325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Add these methods to your class: </a:t>
            </a:r>
            <a:r>
              <a:rPr b="1" lang="en-US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tinyurl.com/3swufn9h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Test how equality works in </a:t>
            </a:r>
            <a:r>
              <a:rPr b="1" i="1" lang="en-US">
                <a:latin typeface="Open Sans"/>
                <a:ea typeface="Open Sans"/>
                <a:cs typeface="Open Sans"/>
                <a:sym typeface="Open Sans"/>
              </a:rPr>
              <a:t>demo.py</a:t>
            </a:r>
            <a:endParaRPr b="1" i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Implement equality checking with </a:t>
            </a: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__eq__(self, other)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/>
              <a:t>Test equality out again and compare</a:t>
            </a:r>
            <a:endParaRPr/>
          </a:p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755300" y="722725"/>
            <a:ext cx="5633400" cy="527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1755300" y="2308050"/>
            <a:ext cx="5633400" cy="527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Inheritance</a:t>
            </a:r>
            <a:r>
              <a:rPr lang="en-US"/>
              <a:t> &amp; Composition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MU-TEEL-Sail() Theme">
  <a:themeElements>
    <a:clrScheme name="CMU">
      <a:dk1>
        <a:srgbClr val="404040"/>
      </a:dk1>
      <a:lt1>
        <a:srgbClr val="FFFFFF"/>
      </a:lt1>
      <a:dk2>
        <a:srgbClr val="898989"/>
      </a:dk2>
      <a:lt2>
        <a:srgbClr val="BABABA"/>
      </a:lt2>
      <a:accent1>
        <a:srgbClr val="BB0000"/>
      </a:accent1>
      <a:accent2>
        <a:srgbClr val="404040"/>
      </a:accent2>
      <a:accent3>
        <a:srgbClr val="BABABA"/>
      </a:accent3>
      <a:accent4>
        <a:srgbClr val="00337F"/>
      </a:accent4>
      <a:accent5>
        <a:srgbClr val="AA6600"/>
      </a:accent5>
      <a:accent6>
        <a:srgbClr val="006677"/>
      </a:accent6>
      <a:hlink>
        <a:srgbClr val="00337F"/>
      </a:hlink>
      <a:folHlink>
        <a:srgbClr val="AA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