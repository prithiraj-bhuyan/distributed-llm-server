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 Mono"/>
      <p:regular r:id="rId18"/>
      <p:bold r:id="rId19"/>
      <p:italic r:id="rId20"/>
      <p:boldItalic r:id="rId21"/>
    </p:embeddedFont>
    <p:embeddedFont>
      <p:font typeface="Open Sans Light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22" Type="http://schemas.openxmlformats.org/officeDocument/2006/relationships/font" Target="fonts/OpenSansLight-regular.fntdata"/><Relationship Id="rId21" Type="http://schemas.openxmlformats.org/officeDocument/2006/relationships/font" Target="fonts/RobotoMono-boldItalic.fntdata"/><Relationship Id="rId24" Type="http://schemas.openxmlformats.org/officeDocument/2006/relationships/font" Target="fonts/OpenSansLight-italic.fntdata"/><Relationship Id="rId23" Type="http://schemas.openxmlformats.org/officeDocument/2006/relationships/font" Target="fonts/OpenSans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OpenSansLight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Mono-bold.fntdata"/><Relationship Id="rId18" Type="http://schemas.openxmlformats.org/officeDocument/2006/relationships/font" Target="fonts/RobotoMon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>
        <p15:guide id="1" orient="horz" pos="2880">
          <p15:clr>
            <a:srgbClr val="F26B43"/>
          </p15:clr>
        </p15:guide>
        <p15:guide id="2" pos="2160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749fcb90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749fcb90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749fcb90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749fcb90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cc208829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cc208829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cc208829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cc208829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cc208829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cc208829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cc208829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cc208829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cc208829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cc208829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cc208829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cc208829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cc208829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cc208829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cc2088299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cc208829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cc208829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cc208829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749fcb9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7749fcb9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9" name="Google Shape;9;p2"/>
          <p:cNvPicPr preferRelativeResize="0"/>
          <p:nvPr/>
        </p:nvPicPr>
        <p:blipFill rotWithShape="1">
          <a:blip r:embed="rId2">
            <a:alphaModFix/>
          </a:blip>
          <a:srcRect b="0" l="1021" r="65261" t="0"/>
          <a:stretch/>
        </p:blipFill>
        <p:spPr>
          <a:xfrm>
            <a:off x="0" y="0"/>
            <a:ext cx="3082973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10;p2"/>
          <p:cNvCxnSpPr/>
          <p:nvPr/>
        </p:nvCxnSpPr>
        <p:spPr>
          <a:xfrm>
            <a:off x="3566900" y="2129900"/>
            <a:ext cx="51279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734" y="1238117"/>
            <a:ext cx="1558578" cy="989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4">
            <a:alphaModFix/>
          </a:blip>
          <a:srcRect b="0" l="72402" r="0" t="0"/>
          <a:stretch/>
        </p:blipFill>
        <p:spPr>
          <a:xfrm>
            <a:off x="6325925" y="4627850"/>
            <a:ext cx="2818076" cy="51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0" y="4953600"/>
            <a:ext cx="6325800" cy="1899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3566900" y="1238125"/>
            <a:ext cx="51198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555550" y="2302475"/>
            <a:ext cx="5119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1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subTitle"/>
          </p:nvPr>
        </p:nvSpPr>
        <p:spPr>
          <a:xfrm>
            <a:off x="3566900" y="2663675"/>
            <a:ext cx="511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pic>
        <p:nvPicPr>
          <p:cNvPr id="17" name="Google Shape;17;p2" title="semi_transparent_bg_teel_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1875" y="4225836"/>
            <a:ext cx="2818074" cy="733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80">
          <p15:clr>
            <a:srgbClr val="E46962"/>
          </p15:clr>
        </p15:guide>
        <p15:guide id="2" orient="horz" pos="1564">
          <p15:clr>
            <a:srgbClr val="E46962"/>
          </p15:clr>
        </p15:guide>
        <p15:guide id="3" orient="horz" pos="1787">
          <p15:clr>
            <a:srgbClr val="E46962"/>
          </p15:clr>
        </p15:guide>
        <p15:guide id="4" orient="horz" pos="1342">
          <p15:clr>
            <a:srgbClr val="E46962"/>
          </p15:clr>
        </p15:guide>
        <p15:guide id="5" orient="horz" pos="2736">
          <p15:clr>
            <a:srgbClr val="E46962"/>
          </p15:clr>
        </p15:guide>
        <p15:guide id="6" pos="2736">
          <p15:clr>
            <a:srgbClr val="E46962"/>
          </p15:clr>
        </p15:guide>
        <p15:guide id="7" pos="5472">
          <p15:clr>
            <a:srgbClr val="E46962"/>
          </p15:clr>
        </p15:guide>
        <p15:guide id="8" pos="1229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">
  <p:cSld name="Agenda Slid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645183" y="377190"/>
            <a:ext cx="7853700" cy="438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457189" y="914395"/>
            <a:ext cx="82299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" name="Google Shape;21;p3"/>
          <p:cNvSpPr txBox="1"/>
          <p:nvPr>
            <p:ph type="title"/>
          </p:nvPr>
        </p:nvSpPr>
        <p:spPr>
          <a:xfrm>
            <a:off x="457200" y="343425"/>
            <a:ext cx="8229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457200" y="1155150"/>
            <a:ext cx="8229600" cy="3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  <a:defRPr>
                <a:solidFill>
                  <a:srgbClr val="000000"/>
                </a:solidFill>
              </a:defRPr>
            </a:lvl2pPr>
            <a:lvl3pPr indent="-3238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  <a:defRPr>
                <a:solidFill>
                  <a:srgbClr val="000000"/>
                </a:solidFill>
              </a:defRPr>
            </a:lvl3pPr>
            <a:lvl4pPr indent="-3238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  <a:defRPr>
                <a:solidFill>
                  <a:srgbClr val="000000"/>
                </a:solidFill>
              </a:defRPr>
            </a:lvl4pPr>
            <a:lvl5pPr indent="-3238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  <a:defRPr>
                <a:solidFill>
                  <a:srgbClr val="000000"/>
                </a:solidFill>
              </a:defRPr>
            </a:lvl5pPr>
            <a:lvl6pPr indent="-3238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  <a:defRPr>
                <a:solidFill>
                  <a:srgbClr val="000000"/>
                </a:solidFill>
              </a:defRPr>
            </a:lvl6pPr>
            <a:lvl7pPr indent="-3238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  <a:defRPr>
                <a:solidFill>
                  <a:srgbClr val="000000"/>
                </a:solidFill>
              </a:defRPr>
            </a:lvl7pPr>
            <a:lvl8pPr indent="-3238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  <a:defRPr>
                <a:solidFill>
                  <a:srgbClr val="000000"/>
                </a:solidFill>
              </a:defRPr>
            </a:lvl8pPr>
            <a:lvl9pPr indent="-3238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 b="0" l="72402" r="0" t="0"/>
          <a:stretch/>
        </p:blipFill>
        <p:spPr>
          <a:xfrm>
            <a:off x="6325925" y="4627850"/>
            <a:ext cx="2818076" cy="515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0" y="4953600"/>
            <a:ext cx="6325800" cy="1899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576">
          <p15:clr>
            <a:srgbClr val="E46962"/>
          </p15:clr>
        </p15:guide>
        <p15:guide id="4" orient="horz" pos="432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1">
  <p:cSld name="Agenda Slide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645183" y="377190"/>
            <a:ext cx="7853700" cy="438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4"/>
          <p:cNvCxnSpPr/>
          <p:nvPr/>
        </p:nvCxnSpPr>
        <p:spPr>
          <a:xfrm>
            <a:off x="457189" y="914395"/>
            <a:ext cx="82299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343425"/>
            <a:ext cx="77799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155150"/>
            <a:ext cx="8229600" cy="3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  <a:defRPr>
                <a:solidFill>
                  <a:srgbClr val="000000"/>
                </a:solidFill>
              </a:defRPr>
            </a:lvl2pPr>
            <a:lvl3pPr indent="-3238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  <a:defRPr>
                <a:solidFill>
                  <a:srgbClr val="000000"/>
                </a:solidFill>
              </a:defRPr>
            </a:lvl3pPr>
            <a:lvl4pPr indent="-3238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  <a:defRPr>
                <a:solidFill>
                  <a:srgbClr val="000000"/>
                </a:solidFill>
              </a:defRPr>
            </a:lvl4pPr>
            <a:lvl5pPr indent="-3238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  <a:defRPr>
                <a:solidFill>
                  <a:srgbClr val="000000"/>
                </a:solidFill>
              </a:defRPr>
            </a:lvl5pPr>
            <a:lvl6pPr indent="-3238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  <a:defRPr>
                <a:solidFill>
                  <a:srgbClr val="000000"/>
                </a:solidFill>
              </a:defRPr>
            </a:lvl6pPr>
            <a:lvl7pPr indent="-3238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  <a:defRPr>
                <a:solidFill>
                  <a:srgbClr val="000000"/>
                </a:solidFill>
              </a:defRPr>
            </a:lvl7pPr>
            <a:lvl8pPr indent="-3238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  <a:defRPr>
                <a:solidFill>
                  <a:srgbClr val="000000"/>
                </a:solidFill>
              </a:defRPr>
            </a:lvl8pPr>
            <a:lvl9pPr indent="-3238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2">
            <a:alphaModFix/>
          </a:blip>
          <a:srcRect b="0" l="72402" r="0" t="0"/>
          <a:stretch/>
        </p:blipFill>
        <p:spPr>
          <a:xfrm>
            <a:off x="6325925" y="4627850"/>
            <a:ext cx="2818076" cy="51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0" y="4953600"/>
            <a:ext cx="6325800" cy="1899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" name="Google Shape;3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7050" y="356600"/>
            <a:ext cx="449750" cy="449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4"/>
          <p:cNvGrpSpPr/>
          <p:nvPr/>
        </p:nvGrpSpPr>
        <p:grpSpPr>
          <a:xfrm>
            <a:off x="0" y="4953600"/>
            <a:ext cx="839700" cy="189900"/>
            <a:chOff x="0" y="4953600"/>
            <a:chExt cx="839700" cy="189900"/>
          </a:xfrm>
        </p:grpSpPr>
        <p:sp>
          <p:nvSpPr>
            <p:cNvPr id="36" name="Google Shape;36;p4"/>
            <p:cNvSpPr/>
            <p:nvPr/>
          </p:nvSpPr>
          <p:spPr>
            <a:xfrm>
              <a:off x="0" y="4953600"/>
              <a:ext cx="839700" cy="189900"/>
            </a:xfrm>
            <a:prstGeom prst="rect">
              <a:avLst/>
            </a:prstGeom>
            <a:gradFill>
              <a:gsLst>
                <a:gs pos="0">
                  <a:srgbClr val="FFFFFF">
                    <a:alpha val="75000"/>
                  </a:srgbClr>
                </a:gs>
                <a:gs pos="100000">
                  <a:srgbClr val="FFFFFF">
                    <a:alpha val="0"/>
                    <a:alpha val="75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pic>
          <p:nvPicPr>
            <p:cNvPr id="37" name="Google Shape;37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2113" y="4973663"/>
              <a:ext cx="414175" cy="149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  <p15:guide id="3" orient="horz" pos="576">
          <p15:clr>
            <a:srgbClr val="E46962"/>
          </p15:clr>
        </p15:guide>
        <p15:guide id="4" orient="horz" pos="4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ortant Point">
  <p:cSld name="Important 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/>
          <p:nvPr/>
        </p:nvSpPr>
        <p:spPr>
          <a:xfrm>
            <a:off x="352697" y="344533"/>
            <a:ext cx="8438606" cy="445443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 txBox="1"/>
          <p:nvPr>
            <p:ph type="title"/>
          </p:nvPr>
        </p:nvSpPr>
        <p:spPr>
          <a:xfrm>
            <a:off x="1755300" y="2308050"/>
            <a:ext cx="5633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b="0" i="0" sz="33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ortant Point 1">
  <p:cSld name="Important Point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43" name="Google Shape;4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/>
          <p:nvPr/>
        </p:nvSpPr>
        <p:spPr>
          <a:xfrm>
            <a:off x="352697" y="344533"/>
            <a:ext cx="8438700" cy="445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1755300" y="2308050"/>
            <a:ext cx="5633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b="0" i="0" sz="33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pic>
        <p:nvPicPr>
          <p:cNvPr id="46" name="Google Shape;4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525" y="2346875"/>
            <a:ext cx="449750" cy="4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Slide Photo">
  <p:cSld name="Just Background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 rotWithShape="1">
          <a:blip r:embed="rId2">
            <a:alphaModFix/>
          </a:blip>
          <a:srcRect b="0" l="72402" r="0" t="0"/>
          <a:stretch/>
        </p:blipFill>
        <p:spPr>
          <a:xfrm>
            <a:off x="6325925" y="4627850"/>
            <a:ext cx="2818076" cy="51565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0" y="4953600"/>
            <a:ext cx="6325800" cy="1899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736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Slide Photo 1">
  <p:cSld name="Just Background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8"/>
          <p:cNvPicPr preferRelativeResize="0"/>
          <p:nvPr/>
        </p:nvPicPr>
        <p:blipFill rotWithShape="1">
          <a:blip r:embed="rId2">
            <a:alphaModFix/>
          </a:blip>
          <a:srcRect b="0" l="72402" r="0" t="0"/>
          <a:stretch/>
        </p:blipFill>
        <p:spPr>
          <a:xfrm>
            <a:off x="6325925" y="4627850"/>
            <a:ext cx="2818076" cy="5156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/>
          <p:nvPr/>
        </p:nvSpPr>
        <p:spPr>
          <a:xfrm>
            <a:off x="0" y="4953600"/>
            <a:ext cx="6325800" cy="1899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r">
              <a:buNone/>
              <a:defRPr sz="1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5" name="Google Shape;55;p8"/>
          <p:cNvGrpSpPr/>
          <p:nvPr/>
        </p:nvGrpSpPr>
        <p:grpSpPr>
          <a:xfrm>
            <a:off x="0" y="4953600"/>
            <a:ext cx="839700" cy="189900"/>
            <a:chOff x="0" y="4953600"/>
            <a:chExt cx="839700" cy="189900"/>
          </a:xfrm>
        </p:grpSpPr>
        <p:sp>
          <p:nvSpPr>
            <p:cNvPr id="56" name="Google Shape;56;p8"/>
            <p:cNvSpPr/>
            <p:nvPr/>
          </p:nvSpPr>
          <p:spPr>
            <a:xfrm>
              <a:off x="0" y="4953600"/>
              <a:ext cx="839700" cy="189900"/>
            </a:xfrm>
            <a:prstGeom prst="rect">
              <a:avLst/>
            </a:prstGeom>
            <a:gradFill>
              <a:gsLst>
                <a:gs pos="0">
                  <a:srgbClr val="FFFFFF">
                    <a:alpha val="75000"/>
                  </a:srgbClr>
                </a:gs>
                <a:gs pos="100000">
                  <a:srgbClr val="FFFFFF">
                    <a:alpha val="0"/>
                    <a:alpha val="75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pic>
          <p:nvPicPr>
            <p:cNvPr id="57" name="Google Shape;57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2113" y="4973663"/>
              <a:ext cx="414175" cy="149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2736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pos="5472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and Right Side Image">
  <p:cSld name="Column and Image Left"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Google Shape;59;p9"/>
          <p:cNvCxnSpPr/>
          <p:nvPr/>
        </p:nvCxnSpPr>
        <p:spPr>
          <a:xfrm>
            <a:off x="607654" y="1911204"/>
            <a:ext cx="24717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" name="Google Shape;60;p9"/>
          <p:cNvSpPr/>
          <p:nvPr>
            <p:ph idx="2" type="pic"/>
          </p:nvPr>
        </p:nvSpPr>
        <p:spPr>
          <a:xfrm>
            <a:off x="3663550" y="648900"/>
            <a:ext cx="5233200" cy="33534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9"/>
          <p:cNvSpPr txBox="1"/>
          <p:nvPr>
            <p:ph type="title"/>
          </p:nvPr>
        </p:nvSpPr>
        <p:spPr>
          <a:xfrm>
            <a:off x="607600" y="648900"/>
            <a:ext cx="24720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subTitle"/>
          </p:nvPr>
        </p:nvSpPr>
        <p:spPr>
          <a:xfrm>
            <a:off x="609875" y="2018025"/>
            <a:ext cx="2472000" cy="18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pic>
        <p:nvPicPr>
          <p:cNvPr id="63" name="Google Shape;63;p9"/>
          <p:cNvPicPr preferRelativeResize="0"/>
          <p:nvPr/>
        </p:nvPicPr>
        <p:blipFill rotWithShape="1">
          <a:blip r:embed="rId2">
            <a:alphaModFix/>
          </a:blip>
          <a:srcRect b="0" l="72402" r="0" t="0"/>
          <a:stretch/>
        </p:blipFill>
        <p:spPr>
          <a:xfrm>
            <a:off x="6325925" y="4627850"/>
            <a:ext cx="2818076" cy="5156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/>
          <p:nvPr/>
        </p:nvSpPr>
        <p:spPr>
          <a:xfrm>
            <a:off x="0" y="4953600"/>
            <a:ext cx="6325800" cy="1899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9"/>
          <p:cNvGrpSpPr/>
          <p:nvPr/>
        </p:nvGrpSpPr>
        <p:grpSpPr>
          <a:xfrm>
            <a:off x="0" y="4953600"/>
            <a:ext cx="839700" cy="189900"/>
            <a:chOff x="0" y="4953600"/>
            <a:chExt cx="839700" cy="189900"/>
          </a:xfrm>
        </p:grpSpPr>
        <p:sp>
          <p:nvSpPr>
            <p:cNvPr id="66" name="Google Shape;66;p9"/>
            <p:cNvSpPr/>
            <p:nvPr/>
          </p:nvSpPr>
          <p:spPr>
            <a:xfrm>
              <a:off x="0" y="4953600"/>
              <a:ext cx="839700" cy="189900"/>
            </a:xfrm>
            <a:prstGeom prst="rect">
              <a:avLst/>
            </a:prstGeom>
            <a:gradFill>
              <a:gsLst>
                <a:gs pos="0">
                  <a:srgbClr val="FFFFFF">
                    <a:alpha val="75000"/>
                  </a:srgbClr>
                </a:gs>
                <a:gs pos="100000">
                  <a:srgbClr val="FFFFFF">
                    <a:alpha val="0"/>
                    <a:alpha val="75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pic>
          <p:nvPicPr>
            <p:cNvPr id="67" name="Google Shape;67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2113" y="4973663"/>
              <a:ext cx="414175" cy="149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and Left Side Image ">
  <p:cSld name="Column and Image Righ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0"/>
          <p:cNvCxnSpPr/>
          <p:nvPr/>
        </p:nvCxnSpPr>
        <p:spPr>
          <a:xfrm>
            <a:off x="6325800" y="1678075"/>
            <a:ext cx="23571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" name="Google Shape;70;p10"/>
          <p:cNvSpPr/>
          <p:nvPr>
            <p:ph idx="2" type="pic"/>
          </p:nvPr>
        </p:nvSpPr>
        <p:spPr>
          <a:xfrm>
            <a:off x="457200" y="648900"/>
            <a:ext cx="5233200" cy="3353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6325925" y="648900"/>
            <a:ext cx="23631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" type="subTitle"/>
          </p:nvPr>
        </p:nvSpPr>
        <p:spPr>
          <a:xfrm>
            <a:off x="6325800" y="1834175"/>
            <a:ext cx="2357100" cy="21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pic>
        <p:nvPicPr>
          <p:cNvPr id="73" name="Google Shape;73;p10"/>
          <p:cNvPicPr preferRelativeResize="0"/>
          <p:nvPr/>
        </p:nvPicPr>
        <p:blipFill rotWithShape="1">
          <a:blip r:embed="rId2">
            <a:alphaModFix/>
          </a:blip>
          <a:srcRect b="0" l="72402" r="0" t="0"/>
          <a:stretch/>
        </p:blipFill>
        <p:spPr>
          <a:xfrm>
            <a:off x="6325925" y="4627850"/>
            <a:ext cx="2818076" cy="5156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/>
          <p:nvPr/>
        </p:nvSpPr>
        <p:spPr>
          <a:xfrm>
            <a:off x="0" y="4953600"/>
            <a:ext cx="6325800" cy="1899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" name="Google Shape;75;p10"/>
          <p:cNvGrpSpPr/>
          <p:nvPr/>
        </p:nvGrpSpPr>
        <p:grpSpPr>
          <a:xfrm>
            <a:off x="0" y="4953600"/>
            <a:ext cx="839700" cy="189900"/>
            <a:chOff x="0" y="4953600"/>
            <a:chExt cx="839700" cy="189900"/>
          </a:xfrm>
        </p:grpSpPr>
        <p:sp>
          <p:nvSpPr>
            <p:cNvPr id="76" name="Google Shape;76;p10"/>
            <p:cNvSpPr/>
            <p:nvPr/>
          </p:nvSpPr>
          <p:spPr>
            <a:xfrm>
              <a:off x="0" y="4953600"/>
              <a:ext cx="839700" cy="189900"/>
            </a:xfrm>
            <a:prstGeom prst="rect">
              <a:avLst/>
            </a:prstGeom>
            <a:gradFill>
              <a:gsLst>
                <a:gs pos="0">
                  <a:srgbClr val="FFFFFF">
                    <a:alpha val="75000"/>
                  </a:srgbClr>
                </a:gs>
                <a:gs pos="100000">
                  <a:srgbClr val="FFFFFF">
                    <a:alpha val="0"/>
                    <a:alpha val="75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pic>
          <p:nvPicPr>
            <p:cNvPr id="77" name="Google Shape;77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2113" y="4973663"/>
              <a:ext cx="414175" cy="149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pos="3985">
          <p15:clr>
            <a:srgbClr val="E46962"/>
          </p15:clr>
        </p15:guide>
        <p15:guide id="2" pos="5472">
          <p15:clr>
            <a:srgbClr val="E46962"/>
          </p15:clr>
        </p15:guide>
        <p15:guide id="3" pos="288">
          <p15:clr>
            <a:srgbClr val="E46962"/>
          </p15:clr>
        </p15:guide>
        <p15:guide id="4" orient="horz" pos="409">
          <p15:clr>
            <a:srgbClr val="E46962"/>
          </p15:clr>
        </p15:guide>
        <p15:guide id="5" orient="horz" pos="2521">
          <p15:clr>
            <a:srgbClr val="E46962"/>
          </p15:clr>
        </p15:guide>
        <p15:guide id="6" orient="horz" pos="2736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 CMU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79" name="Google Shape;7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8589" y="4781812"/>
            <a:ext cx="2158022" cy="18971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1"/>
          <p:cNvSpPr txBox="1"/>
          <p:nvPr>
            <p:ph type="title"/>
          </p:nvPr>
        </p:nvSpPr>
        <p:spPr>
          <a:xfrm>
            <a:off x="1755300" y="2308050"/>
            <a:ext cx="5633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i="0" sz="33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1">
  <p:cSld name="Section Title CMU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83" name="Google Shape;83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8589" y="4781812"/>
            <a:ext cx="2158020" cy="18971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title"/>
          </p:nvPr>
        </p:nvSpPr>
        <p:spPr>
          <a:xfrm>
            <a:off x="1755300" y="2308050"/>
            <a:ext cx="5633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i="0" sz="33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pic>
        <p:nvPicPr>
          <p:cNvPr id="86" name="Google Shape;8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6850" y="218275"/>
            <a:ext cx="449750" cy="4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CUSTOM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Open Sans Light"/>
              <a:buNone/>
              <a:defRPr b="0" i="0" sz="2700" u="none" cap="none" strike="noStrike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300"/>
              <a:buFont typeface="Open Sans"/>
              <a:buNone/>
              <a:defRPr b="0" i="0" sz="3300" u="none" cap="none" strike="noStrik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300"/>
              <a:buFont typeface="Open Sans"/>
              <a:buNone/>
              <a:defRPr b="0" i="0" sz="3300" u="none" cap="none" strike="noStrik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300"/>
              <a:buFont typeface="Open Sans"/>
              <a:buNone/>
              <a:defRPr b="0" i="0" sz="3300" u="none" cap="none" strike="noStrik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300"/>
              <a:buFont typeface="Open Sans"/>
              <a:buNone/>
              <a:defRPr b="0" i="0" sz="3300" u="none" cap="none" strike="noStrik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300"/>
              <a:buFont typeface="Open Sans"/>
              <a:buNone/>
              <a:defRPr b="0" i="0" sz="3300" u="none" cap="none" strike="noStrik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300"/>
              <a:buFont typeface="Open Sans"/>
              <a:buNone/>
              <a:defRPr b="0" i="0" sz="3300" u="none" cap="none" strike="noStrik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300"/>
              <a:buFont typeface="Open Sans"/>
              <a:buNone/>
              <a:defRPr b="0" i="0" sz="3300" u="none" cap="none" strike="noStrik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300"/>
              <a:buFont typeface="Open Sans"/>
              <a:buNone/>
              <a:defRPr b="0" i="0" sz="3300" u="none" cap="none" strike="noStrik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26619"/>
            <a:ext cx="78867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pen Sans Light"/>
              <a:buChar char="●"/>
              <a:defRPr b="0" i="0" sz="1500" u="none" cap="none" strike="noStrike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500"/>
              <a:buFont typeface="Open Sans Light"/>
              <a:buChar char="○"/>
              <a:defRPr b="0" i="0" sz="15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500"/>
              <a:buFont typeface="Open Sans Light"/>
              <a:buChar char="■"/>
              <a:defRPr b="0" i="0" sz="15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500"/>
              <a:buFont typeface="Open Sans Light"/>
              <a:buChar char="●"/>
              <a:defRPr b="0" i="0" sz="15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500"/>
              <a:buFont typeface="Open Sans Light"/>
              <a:buChar char="○"/>
              <a:defRPr b="0" i="0" sz="15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500"/>
              <a:buFont typeface="Open Sans Light"/>
              <a:buChar char="■"/>
              <a:defRPr b="0" i="0" sz="15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500"/>
              <a:buFont typeface="Open Sans Light"/>
              <a:buChar char="●"/>
              <a:defRPr b="0" i="0" sz="15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500"/>
              <a:buFont typeface="Open Sans Light"/>
              <a:buChar char="○"/>
              <a:defRPr b="0" i="0" sz="15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500"/>
              <a:buFont typeface="Open Sans Light"/>
              <a:buChar char="■"/>
              <a:defRPr b="0" i="0" sz="15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566900" y="1238125"/>
            <a:ext cx="5119800" cy="801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ETL and NoSQL </a:t>
            </a:r>
            <a:r>
              <a:rPr lang="en-US"/>
              <a:t>Recitation</a:t>
            </a:r>
            <a:endParaRPr/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3555550" y="2302475"/>
            <a:ext cx="51198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Engineering - Unit 3</a:t>
            </a:r>
            <a:endParaRPr/>
          </a:p>
        </p:txBody>
      </p:sp>
      <p:sp>
        <p:nvSpPr>
          <p:cNvPr id="94" name="Google Shape;94;p14"/>
          <p:cNvSpPr txBox="1"/>
          <p:nvPr>
            <p:ph idx="2" type="subTitle"/>
          </p:nvPr>
        </p:nvSpPr>
        <p:spPr>
          <a:xfrm>
            <a:off x="3566900" y="2663675"/>
            <a:ext cx="5119800" cy="57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12/03/2025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457200" y="343425"/>
            <a:ext cx="8229600" cy="476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ELT</a:t>
            </a:r>
            <a:endParaRPr/>
          </a:p>
        </p:txBody>
      </p: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21844"/>
          <a:stretch/>
        </p:blipFill>
        <p:spPr>
          <a:xfrm>
            <a:off x="222238" y="1306766"/>
            <a:ext cx="8699524" cy="31276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624725" y="3480675"/>
            <a:ext cx="1679400" cy="598800"/>
          </a:xfrm>
          <a:prstGeom prst="roundRect">
            <a:avLst>
              <a:gd fmla="val 16667" name="adj"/>
            </a:avLst>
          </a:prstGeom>
          <a:solidFill>
            <a:srgbClr val="CAD0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732300" y="3480675"/>
            <a:ext cx="1679400" cy="598800"/>
          </a:xfrm>
          <a:prstGeom prst="roundRect">
            <a:avLst>
              <a:gd fmla="val 16667" name="adj"/>
            </a:avLst>
          </a:prstGeom>
          <a:solidFill>
            <a:srgbClr val="CAD0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6915900" y="3480675"/>
            <a:ext cx="1679400" cy="598800"/>
          </a:xfrm>
          <a:prstGeom prst="roundRect">
            <a:avLst>
              <a:gd fmla="val 16667" name="adj"/>
            </a:avLst>
          </a:prstGeom>
          <a:solidFill>
            <a:srgbClr val="CAD0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57200" y="343425"/>
            <a:ext cx="8229600" cy="476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ELT</a:t>
            </a:r>
            <a:endParaRPr/>
          </a:p>
        </p:txBody>
      </p:sp>
      <p:sp>
        <p:nvSpPr>
          <p:cNvPr id="110" name="Google Shape;110;p16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21844"/>
          <a:stretch/>
        </p:blipFill>
        <p:spPr>
          <a:xfrm>
            <a:off x="222238" y="1306766"/>
            <a:ext cx="8699524" cy="312764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/>
          <p:nvPr/>
        </p:nvSpPr>
        <p:spPr>
          <a:xfrm>
            <a:off x="3732300" y="3480675"/>
            <a:ext cx="1679400" cy="598800"/>
          </a:xfrm>
          <a:prstGeom prst="roundRect">
            <a:avLst>
              <a:gd fmla="val 16667" name="adj"/>
            </a:avLst>
          </a:prstGeom>
          <a:solidFill>
            <a:srgbClr val="CAD0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6915900" y="3480675"/>
            <a:ext cx="1679400" cy="598800"/>
          </a:xfrm>
          <a:prstGeom prst="roundRect">
            <a:avLst>
              <a:gd fmla="val 16667" name="adj"/>
            </a:avLst>
          </a:prstGeom>
          <a:solidFill>
            <a:srgbClr val="CAD0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457200" y="343425"/>
            <a:ext cx="8229600" cy="476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ELT</a:t>
            </a:r>
            <a:endParaRPr/>
          </a:p>
        </p:txBody>
      </p:sp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21844"/>
          <a:stretch/>
        </p:blipFill>
        <p:spPr>
          <a:xfrm>
            <a:off x="222238" y="1306766"/>
            <a:ext cx="8699524" cy="312764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/>
          <p:nvPr/>
        </p:nvSpPr>
        <p:spPr>
          <a:xfrm>
            <a:off x="6915900" y="3480675"/>
            <a:ext cx="1679400" cy="598800"/>
          </a:xfrm>
          <a:prstGeom prst="roundRect">
            <a:avLst>
              <a:gd fmla="val 16667" name="adj"/>
            </a:avLst>
          </a:prstGeom>
          <a:solidFill>
            <a:srgbClr val="CAD0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457200" y="343425"/>
            <a:ext cx="8229600" cy="476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ELT</a:t>
            </a:r>
            <a:endParaRPr/>
          </a:p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8" name="Google Shape;128;p18"/>
          <p:cNvPicPr preferRelativeResize="0"/>
          <p:nvPr/>
        </p:nvPicPr>
        <p:blipFill rotWithShape="1">
          <a:blip r:embed="rId3">
            <a:alphaModFix/>
          </a:blip>
          <a:srcRect b="0" l="0" r="0" t="21844"/>
          <a:stretch/>
        </p:blipFill>
        <p:spPr>
          <a:xfrm>
            <a:off x="222238" y="1306766"/>
            <a:ext cx="8699524" cy="3127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457200" y="343425"/>
            <a:ext cx="8229600" cy="476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ETL - Example</a:t>
            </a:r>
            <a:endParaRPr/>
          </a:p>
        </p:txBody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457200" y="1155150"/>
            <a:ext cx="8229600" cy="3188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App Logs (JSON):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Contains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timestamp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video_id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duration_watched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(Generated live, huge volume).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User Database (SQL):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Contains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country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(Structured, slow to change).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Content Metadata (CSV):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Contains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video_id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genre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director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origin_country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(Updated monthly).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TASK: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What is the average watch time for 'Sci-Fi' movies by users in 'France'?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457200" y="343425"/>
            <a:ext cx="8229600" cy="476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ETL - Example</a:t>
            </a:r>
            <a:endParaRPr/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457200" y="1155150"/>
            <a:ext cx="8229600" cy="3188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App Logs (JSON):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Contains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timestamp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video_id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duration_watched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(Generated live, huge volume).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User Database (SQL):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Contains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country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(Structured, slow to change).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Content Metadata (CSV):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Contains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video_id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genre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director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origin_country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(Updated monthly).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TASK: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What is the average watch time for 'Sci-Fi' movies by users in 'France'?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0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1096050" y="3492425"/>
            <a:ext cx="6951900" cy="1056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Which strategy would you use for the App Logs extraction? Full or Partial/Incremental?</a:t>
            </a:r>
            <a:endParaRPr b="1"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457200" y="343425"/>
            <a:ext cx="8229600" cy="476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ETL - Example</a:t>
            </a:r>
            <a:endParaRPr/>
          </a:p>
        </p:txBody>
      </p:sp>
      <p:sp>
        <p:nvSpPr>
          <p:cNvPr id="149" name="Google Shape;149;p21"/>
          <p:cNvSpPr txBox="1"/>
          <p:nvPr>
            <p:ph idx="1" type="body"/>
          </p:nvPr>
        </p:nvSpPr>
        <p:spPr>
          <a:xfrm>
            <a:off x="457200" y="1155150"/>
            <a:ext cx="8229600" cy="3188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App Logs (JSON):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Contains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timestamp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video_id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duration_watched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(Generated live, huge volume).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User Database (SQL):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Contains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country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(Structured, slow to change).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Content Metadata (CSV):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Contains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video_id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genre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director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origin_country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(Updated monthly).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TASK: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What is the average watch time for 'Sci-Fi' movies by users in 'France'?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1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21"/>
          <p:cNvSpPr/>
          <p:nvPr/>
        </p:nvSpPr>
        <p:spPr>
          <a:xfrm>
            <a:off x="1096050" y="3492425"/>
            <a:ext cx="6951900" cy="1056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The App Logs sometimes have a duration_watched of -1 or null. How should your pipeline handle these rows?</a:t>
            </a:r>
            <a:endParaRPr b="1"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457200" y="343425"/>
            <a:ext cx="8229600" cy="476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ETL - Example</a:t>
            </a:r>
            <a:endParaRPr/>
          </a:p>
        </p:txBody>
      </p:sp>
      <p:sp>
        <p:nvSpPr>
          <p:cNvPr id="157" name="Google Shape;157;p22"/>
          <p:cNvSpPr txBox="1"/>
          <p:nvPr>
            <p:ph idx="1" type="body"/>
          </p:nvPr>
        </p:nvSpPr>
        <p:spPr>
          <a:xfrm>
            <a:off x="457200" y="1155150"/>
            <a:ext cx="8229600" cy="3188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App Logs (JSON):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Contains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timestamp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video_id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duration_watched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(Generated live, huge volume).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User Database (SQL):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Contains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country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(Structured, slow to change).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Content Metadata (CSV):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Contains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video_id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genre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director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origin_country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(Updated monthly).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TASK: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What is the average watch time for 'Sci-Fi' movies by users in 'France'?</a:t>
            </a:r>
            <a:endParaRPr/>
          </a:p>
        </p:txBody>
      </p:sp>
      <p:sp>
        <p:nvSpPr>
          <p:cNvPr id="158" name="Google Shape;158;p22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1096050" y="3492425"/>
            <a:ext cx="6951900" cy="1056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The User DB lists countries as "US", "FR", "UK", but the Content Metadata uses "United States", "France", "United Kingdom". What transformation step is needed here?</a:t>
            </a:r>
            <a:endParaRPr b="1"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457200" y="343425"/>
            <a:ext cx="8229600" cy="476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ETL - Example</a:t>
            </a:r>
            <a:endParaRPr/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457200" y="1155150"/>
            <a:ext cx="8229600" cy="3188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App Logs (JSON):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Contains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timestamp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video_id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duration_watched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(Generated live, huge volume).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User Database (SQL):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Contains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country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(Structured, slow to change).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Content Metadata (CSV):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Contains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video_id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genre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director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origin_country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(Updated monthly).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TASK: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What is the average watch time for 'Sci-Fi' movies by users in 'France'?</a:t>
            </a:r>
            <a:endParaRPr/>
          </a:p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23"/>
          <p:cNvSpPr/>
          <p:nvPr/>
        </p:nvSpPr>
        <p:spPr>
          <a:xfrm>
            <a:off x="1096050" y="3492425"/>
            <a:ext cx="6951900" cy="1056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Would you reload the entire report every day (Bulk Load) or just add the new day's data (Incremental)?</a:t>
            </a:r>
            <a:endParaRPr b="1"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457200" y="343425"/>
            <a:ext cx="8229600" cy="476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Cleaning</a:t>
            </a:r>
            <a:endParaRPr/>
          </a:p>
        </p:txBody>
      </p:sp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457200" y="1155150"/>
            <a:ext cx="8229600" cy="743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What are potential issues with this data and how can they be addressed?</a:t>
            </a:r>
            <a:endParaRPr sz="1900"/>
          </a:p>
        </p:txBody>
      </p:sp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8595309" y="4921651"/>
            <a:ext cx="548700" cy="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5" name="Google Shape;17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079" y="1860866"/>
            <a:ext cx="7435850" cy="2386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1755300" y="2308050"/>
            <a:ext cx="5633400" cy="527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MongoDB - NoSQL Activity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MU-TEEL-Sail() Theme">
  <a:themeElements>
    <a:clrScheme name="CMU">
      <a:dk1>
        <a:srgbClr val="404040"/>
      </a:dk1>
      <a:lt1>
        <a:srgbClr val="FFFFFF"/>
      </a:lt1>
      <a:dk2>
        <a:srgbClr val="898989"/>
      </a:dk2>
      <a:lt2>
        <a:srgbClr val="BABABA"/>
      </a:lt2>
      <a:accent1>
        <a:srgbClr val="BB0000"/>
      </a:accent1>
      <a:accent2>
        <a:srgbClr val="404040"/>
      </a:accent2>
      <a:accent3>
        <a:srgbClr val="BABABA"/>
      </a:accent3>
      <a:accent4>
        <a:srgbClr val="00337F"/>
      </a:accent4>
      <a:accent5>
        <a:srgbClr val="AA6600"/>
      </a:accent5>
      <a:accent6>
        <a:srgbClr val="006677"/>
      </a:accent6>
      <a:hlink>
        <a:srgbClr val="00337F"/>
      </a:hlink>
      <a:folHlink>
        <a:srgbClr val="AA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